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 snapToObjects="1">
      <p:cViewPr varScale="1">
        <p:scale>
          <a:sx n="95" d="100"/>
          <a:sy n="95" d="100"/>
        </p:scale>
        <p:origin x="200" y="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 Subscribers</c:v>
                </c:pt>
              </c:strCache>
            </c:strRef>
          </c:tx>
          <c:spPr>
            <a:solidFill>
              <a:srgbClr val="FF6B6B"/>
            </a:solidFill>
          </c:spPr>
          <c:invertIfNegative val="1"/>
          <c:cat>
            <c:strRef>
              <c:f>Sheet1!$A$2:$A$9</c:f>
              <c:strCache>
                <c:ptCount val="8"/>
                <c:pt idx="0">
                  <c:v>Q3 2025</c:v>
                </c:pt>
                <c:pt idx="1">
                  <c:v>Q4 2025</c:v>
                </c:pt>
                <c:pt idx="2">
                  <c:v>Q1 2026</c:v>
                </c:pt>
                <c:pt idx="3">
                  <c:v>Q2 2026</c:v>
                </c:pt>
                <c:pt idx="4">
                  <c:v>Q3 2026</c:v>
                </c:pt>
                <c:pt idx="5">
                  <c:v>Q4 2026</c:v>
                </c:pt>
                <c:pt idx="6">
                  <c:v>Q1 2027</c:v>
                </c:pt>
                <c:pt idx="7">
                  <c:v>Q2 2027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</c:v>
                </c:pt>
                <c:pt idx="1">
                  <c:v>800</c:v>
                </c:pt>
                <c:pt idx="2">
                  <c:v>2500</c:v>
                </c:pt>
                <c:pt idx="3">
                  <c:v>5000</c:v>
                </c:pt>
                <c:pt idx="4">
                  <c:v>8000</c:v>
                </c:pt>
                <c:pt idx="5">
                  <c:v>12000</c:v>
                </c:pt>
                <c:pt idx="6">
                  <c:v>18000</c:v>
                </c:pt>
                <c:pt idx="7">
                  <c:v>25000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058-D54E-BA6A-146E1F678C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333355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solidFill>
                      <a:srgbClr val="CCCCCC"/>
                    </a:solidFill>
                  </a:defRPr>
                </a:pPr>
                <a:r>
                  <a:rPr lang="en-US"/>
                  <a:t>Pro Subscribers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bubble3D val="0"/>
            <c:spPr>
              <a:solidFill>
                <a:srgbClr val="FF6B6B"/>
              </a:solidFill>
            </c:spPr>
            <c:extLst>
              <c:ext xmlns:c16="http://schemas.microsoft.com/office/drawing/2014/chart" uri="{C3380CC4-5D6E-409C-BE32-E72D297353CC}">
                <c16:uniqueId val="{00000001-DE8C-2E4E-A840-840047D81FD0}"/>
              </c:ext>
            </c:extLst>
          </c:dPt>
          <c:dPt>
            <c:idx val="1"/>
            <c:bubble3D val="0"/>
            <c:spPr>
              <a:solidFill>
                <a:srgbClr val="FFD700"/>
              </a:solidFill>
            </c:spPr>
            <c:extLst>
              <c:ext xmlns:c16="http://schemas.microsoft.com/office/drawing/2014/chart" uri="{C3380CC4-5D6E-409C-BE32-E72D297353CC}">
                <c16:uniqueId val="{00000003-DE8C-2E4E-A840-840047D81FD0}"/>
              </c:ext>
            </c:extLst>
          </c:dPt>
          <c:dPt>
            <c:idx val="2"/>
            <c:bubble3D val="0"/>
            <c:spPr>
              <a:solidFill>
                <a:srgbClr val="3498DB"/>
              </a:solidFill>
            </c:spPr>
            <c:extLst>
              <c:ext xmlns:c16="http://schemas.microsoft.com/office/drawing/2014/chart" uri="{C3380CC4-5D6E-409C-BE32-E72D297353CC}">
                <c16:uniqueId val="{00000005-DE8C-2E4E-A840-840047D81FD0}"/>
              </c:ext>
            </c:extLst>
          </c:dPt>
          <c:dPt>
            <c:idx val="3"/>
            <c:bubble3D val="0"/>
            <c:spPr>
              <a:solidFill>
                <a:srgbClr val="2ECC71"/>
              </a:solidFill>
            </c:spPr>
            <c:extLst>
              <c:ext xmlns:c16="http://schemas.microsoft.com/office/drawing/2014/chart" uri="{C3380CC4-5D6E-409C-BE32-E72D297353CC}">
                <c16:uniqueId val="{00000007-DE8C-2E4E-A840-840047D81FD0}"/>
              </c:ext>
            </c:extLst>
          </c:dPt>
          <c:cat>
            <c:strRef>
              <c:f>Sheet1!$A$2:$A$5</c:f>
              <c:strCache>
                <c:ptCount val="4"/>
                <c:pt idx="0">
                  <c:v>Content Scale-Up</c:v>
                </c:pt>
                <c:pt idx="1">
                  <c:v>Marketing &amp; Growth</c:v>
                </c:pt>
                <c:pt idx="2">
                  <c:v>Engineering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E8C-2E4E-A840-840047D81F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CCCCCC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73152" cy="5029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0"/>
              </a:spcAft>
              <a:defRPr sz="5200" b="1">
                <a:solidFill>
                  <a:srgbClr val="FF6B6B"/>
                </a:solidFill>
                <a:latin typeface="Calibri"/>
              </a:defRPr>
            </a:pPr>
            <a:r>
              <a:t>⏱️  1 MINUTE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0">
                <a:solidFill>
                  <a:srgbClr val="FFFFFF"/>
                </a:solidFill>
                <a:latin typeface="Calibri"/>
              </a:defRPr>
            </a:pPr>
            <a:r>
              <a:t>Learn anything in 60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00400"/>
            <a:ext cx="2133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The world's largest library of 60-second story-driven micro-lessons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Learning is broken — and the world knows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517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6B6B"/>
                </a:solidFill>
                <a:latin typeface="Calibri"/>
              </a:defRPr>
            </a:pPr>
            <a:r>
              <a:t>Attention Collapse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Average attention span has dropped to 8.25 seconds (Microsoft Research). Traditional 10–60 min courses lose learners in the first 2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265176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39C12"/>
                </a:solidFill>
                <a:latin typeface="Calibri"/>
              </a:defRPr>
            </a:pPr>
            <a:r>
              <a:t>$400B Wasted Training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Companies spend $400B/yr on employee training — yet 70% of knowledge is forgotten within 24 hours (Ebbinghaus curve). The ROI of long-form learning is plummeting.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59" y="2011680"/>
            <a:ext cx="265176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39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498DB"/>
                </a:solidFill>
                <a:latin typeface="Calibri"/>
              </a:defRPr>
            </a:pPr>
            <a:r>
              <a:t>87% Drop-Off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Online course completion rates average just 5–13% (Harvard/MIT). Udemy reports 87% of enrolled students never finish. Content is too long, too generic.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2011680"/>
            <a:ext cx="2651760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19" y="2011680"/>
            <a:ext cx="265176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599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9B59B6"/>
                </a:solidFill>
                <a:latin typeface="Calibri"/>
              </a:defRPr>
            </a:pPr>
            <a:r>
              <a:t>Passive ≠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38328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Lectures and readings yield only 5–10% retention (NTL Learning Pyramid). Active, story-based engagement yields 75%+. Yet most platforms still deliver passive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60-second story-driven micro-lessons that stick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517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6B6B"/>
                </a:solidFill>
                <a:latin typeface="Calibri"/>
              </a:defRPr>
            </a:pPr>
            <a:r>
              <a:t>Narrative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Every lesson is a 6-beat story:</a:t>
            </a:r>
            <a:br/>
            <a:r>
              <a:t>Hook → Buildup → Discovery → Twist → Climax → Punchline</a:t>
            </a:r>
            <a:br/>
            <a:br/>
            <a:r>
              <a:t>Stories activate 7× more brain regions than facts alone (Stanford Research).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2011680"/>
            <a:ext cx="26517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Strict 60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461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48 seconds of story + 12 seconds of interactive quiz.</a:t>
            </a:r>
            <a:br/>
            <a:r>
              <a:t>No pause button. No skip.</a:t>
            </a:r>
            <a:br/>
            <a:br/>
            <a:r>
              <a:t>Constraint breeds clarity — every word is optimized for impact and retention.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59" y="2011680"/>
            <a:ext cx="26517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39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2ECC71"/>
                </a:solidFill>
                <a:latin typeface="Calibri"/>
              </a:defRPr>
            </a:pPr>
            <a:r>
              <a:t>Gamified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24612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Streaks, badges (30 milestones), certificates, star ratings, and a Surprise Shuffle discovery engine.</a:t>
            </a:r>
            <a:br/>
            <a:br/>
            <a:r>
              <a:t>9 visual lesson styles keep the experience fresh across thousands of lessons.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2011680"/>
            <a:ext cx="2651760" cy="4389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19" y="2011680"/>
            <a:ext cx="265176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599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79"/>
              </a:lnSpc>
              <a:spcAft>
                <a:spcPts val="0"/>
              </a:spcAft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3498DB"/>
                </a:solidFill>
                <a:latin typeface="Calibri"/>
              </a:defRPr>
            </a:pPr>
            <a:r>
              <a:rPr dirty="0"/>
              <a:t>Massive Content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3246120"/>
            <a:ext cx="2286000" cy="1921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rPr lang="en-US" dirty="0"/>
              <a:t>15,000 lessons across 50 categories — from AI to Philosophy, Cooking to Cybersecurity.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500 structured courses, each with 6 chapters × 5 topics. Ready to scale to 50,000+.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6-Beat Story Engine™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Every lesson follows a proven narrative arc — the same structure that makes TikTok addictive, but for real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5074920"/>
            <a:ext cx="1691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Grab attention with a</a:t>
            </a:r>
            <a:br/>
            <a:r>
              <a:t>surprising fact or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77440" y="5074920"/>
            <a:ext cx="169164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39C12"/>
                </a:solidFill>
                <a:latin typeface="Calibri"/>
              </a:defRPr>
            </a:pPr>
            <a:r>
              <a:t>BUILDUP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Set the context —</a:t>
            </a:r>
            <a:br/>
            <a:r>
              <a:t>why this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5074920"/>
            <a:ext cx="169164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Reveal the core</a:t>
            </a:r>
            <a:br/>
            <a:r>
              <a:t>insight or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5074920"/>
            <a:ext cx="169164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2ECC71"/>
                </a:solidFill>
                <a:latin typeface="Calibri"/>
              </a:defRPr>
            </a:pPr>
            <a:r>
              <a:t>TWIST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Challenge expectations</a:t>
            </a:r>
            <a:br/>
            <a:r>
              <a:t>with a new angle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38160" y="5074920"/>
            <a:ext cx="169164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🏔️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3498DB"/>
                </a:solidFill>
                <a:latin typeface="Calibri"/>
              </a:defRPr>
            </a:pPr>
            <a:r>
              <a:t>CLIMAX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Deliver the peak</a:t>
            </a:r>
            <a:br/>
            <a:r>
              <a:t>moment of understanding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3291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2377440"/>
            <a:ext cx="1691640" cy="2743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058400" y="5074920"/>
            <a:ext cx="169164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0" y="25146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017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9B59B6"/>
                </a:solidFill>
                <a:latin typeface="Calibri"/>
              </a:defRPr>
            </a:pPr>
            <a:r>
              <a:t>PUNCHLINE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~8s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3657600"/>
            <a:ext cx="1508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Memorable takeaway</a:t>
            </a:r>
            <a:br/>
            <a:r>
              <a:t>that sticks forever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349240"/>
            <a:ext cx="11277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🧠  + Interactive Quiz (12 seconds)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486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CCCCCC"/>
                </a:solidFill>
                <a:latin typeface="Calibri"/>
              </a:defRPr>
            </a:pPr>
            <a:r>
              <a:t>3-option multiple choice  •  Auto-reveal at 4s remaining  •  Tests actual comprehension  •  Validates learning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48s story + 12s quiz = Exactly 60 seconds of high-density, retention-optimized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CONTENT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12,0</a:t>
            </a:r>
            <a:r>
              <a:rPr lang="en-US" dirty="0"/>
              <a:t>0</a:t>
            </a:r>
            <a:r>
              <a:rPr dirty="0"/>
              <a:t>0 lessons and growing — built for breadth and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1952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01952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46704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704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91456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91456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Career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36208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0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25712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Creativity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5712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70464" y="18288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70464" y="18745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0464" y="21488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Critical Thinking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70464" y="23591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Cybersecurity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01952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01952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01952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46704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46704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6704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6704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91456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91456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1456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Economics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91456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36208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6208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80960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680960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Entrepreneurship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25712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25712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25712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Ethics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25712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570464" y="27432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570464" y="27889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70464" y="30632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Fashion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70464" y="32735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57200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Gardening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901952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901952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01952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History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01952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346704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346704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46704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Home &amp; DIY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46704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91456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91456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91456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Investing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91456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236208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236208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36208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Law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36208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680960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680960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👑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80960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80960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125712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125712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📚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25712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Learning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25712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570464" y="36576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570464" y="37033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70464" y="39776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Management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70464" y="41879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200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📢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Marketing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901952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901952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01952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Medicine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901952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346704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3346704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46704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Mental Health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46704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791456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791456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🎵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91456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Music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791456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6236208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236208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🤝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Negotiation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36208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680960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680960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🥗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80960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Nutrition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80960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125712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125712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👶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25712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Parenting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25712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570464" y="45720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570464" y="46177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💵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570464" y="4892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Personal Finance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570464" y="51023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57200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57200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7200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Philosophy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7200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901952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901952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01952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Photography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901952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346704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346704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💪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46704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Physical Fitness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46704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791456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791456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🏛️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91456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Politics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91456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236208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236208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236208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Productivity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36208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680960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7680960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80960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Programming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680960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9125712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9125712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125712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Psychology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25712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0570464" y="5486400"/>
            <a:ext cx="132588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570464" y="553212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🎤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570464" y="58064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Public Speaking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570464" y="601675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  <a:defRPr sz="700" b="0">
                <a:solidFill>
                  <a:srgbClr val="999999"/>
                </a:solidFill>
                <a:latin typeface="Calibri"/>
              </a:defRPr>
            </a:pPr>
            <a:r>
              <a:t>10 courses • 300 topics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57200" y="6446520"/>
            <a:ext cx="11277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57200" y="6537960"/>
            <a:ext cx="1097280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lang="en-US" dirty="0"/>
              <a:t>5</a:t>
            </a:r>
            <a:r>
              <a:rPr dirty="0"/>
              <a:t>0 categories  ×  10 courses each  ×  30 topics per course  =  1</a:t>
            </a:r>
            <a:r>
              <a:rPr lang="en-US" dirty="0"/>
              <a:t>5</a:t>
            </a:r>
            <a:r>
              <a:rPr dirty="0"/>
              <a:t>,0</a:t>
            </a:r>
            <a:r>
              <a:rPr lang="en-US" dirty="0"/>
              <a:t>0</a:t>
            </a:r>
            <a:r>
              <a:rPr dirty="0"/>
              <a:t>0 unique 60-second lessons  |  Content pipeline can produce </a:t>
            </a:r>
            <a:r>
              <a:rPr lang="en-US" dirty="0"/>
              <a:t>5</a:t>
            </a:r>
            <a:r>
              <a:rPr dirty="0"/>
              <a:t>00+ new courses/week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Riding the intersection of two mega-trends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011680"/>
            <a:ext cx="3657600" cy="3657600"/>
          </a:xfrm>
          <a:prstGeom prst="ellipse">
            <a:avLst/>
          </a:prstGeom>
          <a:solidFill>
            <a:srgbClr val="3498DB">
              <a:lumMod val="15000"/>
              <a:lumOff val="85000"/>
            </a:srgbClr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$350B+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Global EdTech Market by 2030</a:t>
            </a:r>
            <a:br/>
            <a:r>
              <a:t>(HolonIQ, Grand View Research)</a:t>
            </a:r>
            <a:br/>
            <a:br/>
            <a:r>
              <a:t>Online education, mobile learning,</a:t>
            </a:r>
            <a:br/>
            <a:r>
              <a:t>corporate training, K-12 digital</a:t>
            </a:r>
          </a:p>
        </p:txBody>
      </p:sp>
      <p:sp>
        <p:nvSpPr>
          <p:cNvPr id="9" name="Oval 8"/>
          <p:cNvSpPr/>
          <p:nvPr/>
        </p:nvSpPr>
        <p:spPr>
          <a:xfrm>
            <a:off x="4206240" y="2011680"/>
            <a:ext cx="2926080" cy="2926080"/>
          </a:xfrm>
          <a:prstGeom prst="ellipse">
            <a:avLst/>
          </a:prstGeom>
          <a:solidFill>
            <a:srgbClr val="2ECC71">
              <a:lumMod val="15000"/>
              <a:lumOff val="85000"/>
            </a:srgbClr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560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$47B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074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Micro-Learning &amp; Mobile Learning</a:t>
            </a:r>
            <a:br/>
            <a:r>
              <a:t>(Mordor Intelligence 2025)</a:t>
            </a:r>
            <a:br/>
            <a:br/>
            <a:r>
              <a:t>Bite-sized content platforms,</a:t>
            </a:r>
            <a:br/>
            <a:r>
              <a:t>language apps, skill platforms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2011680"/>
            <a:ext cx="2194560" cy="2194560"/>
          </a:xfrm>
          <a:prstGeom prst="ellipse">
            <a:avLst/>
          </a:prstGeom>
          <a:solidFill>
            <a:srgbClr val="FF6B6B">
              <a:lumMod val="15000"/>
              <a:lumOff val="85000"/>
            </a:srgbClr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2194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$500M+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3434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Story-Driven Micro-Learning</a:t>
            </a:r>
            <a:br/>
            <a:r>
              <a:t>(Our niche — wide-topic 60s format)</a:t>
            </a:r>
            <a:br/>
            <a:br/>
            <a:r>
              <a:t>No direct competitor combines</a:t>
            </a:r>
            <a:br/>
            <a:r>
              <a:t>narrative + time constraint +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5861" y="6185903"/>
            <a:ext cx="7578634" cy="52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rPr dirty="0"/>
              <a:t>💡  Duolingo proved micro-learning works for languages ($12B market cap). No one has done it for general knowledge. We 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Freemium with a proven conversion funnel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999999"/>
                </a:solidFill>
                <a:latin typeface="Calibri"/>
              </a:defRPr>
            </a:pPr>
            <a:r>
              <a:t>GUEST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No account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0040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Browse all categories &amp; courses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Preview free topic pages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2 lesson styles (Focus + Dark)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No progress tracking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No badges or certificates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4747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Account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79" y="320040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79" y="33832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All Guest features +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Full free topic access (2,404 topics)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Progress tracking &amp; streaks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Star ratings on topics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✓  2 lesson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474720" cy="4572000"/>
          </a:xfrm>
          <a:prstGeom prst="round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D700"/>
                </a:solidFill>
                <a:latin typeface="Calibri"/>
              </a:defRPr>
            </a:pPr>
            <a:r>
              <a:t>⭐ MOST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$7.99/mo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or $59.99/year (~37% savings)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20040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33832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Full library: 12,010 topics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9 premium lesson styles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Minute Expert badges (30 tiers)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Shareable certificates (40)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Review mode (no timer)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Surprise Shuffle (full library)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F5F5F5"/>
                </a:solidFill>
                <a:latin typeface="Calibri"/>
              </a:defRPr>
            </a:pPr>
            <a:r>
              <a:t>✓  Priority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Software margins with content moat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Monthly Pro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$7.99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Annual Pro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$59.99/yr ($5.00/mo)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Blended ARPU (est.)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$6.50/mo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79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319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Target LTV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3191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$130+ (20-month avg tenure)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~92% (hosting + Stripe fees only)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CAC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$8–15 (organic + SEO heavy)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60719"/>
            <a:ext cx="5029200" cy="53035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8521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LTV:CAC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8521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8–16× (best-in-class SaaS)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920240"/>
            <a:ext cx="502920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Why Our Economics Are Exceptional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606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📦  Zero marginal cost per user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880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Content is pre-built. Supabase + Vercel scale at near-zero cost per additional user. No instructor payouts, no video hosting.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🔄  Content flywheel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86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AI-assisted content pipeline produces 100+ courses/week. More content → more SEO pages (12,017 indexed) → more organic traffic → more conversions.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🔒  High switching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92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Streaks, badges (30 milestones), certificates, and progress create deep retention. Users invest identity into their learning journey.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🌐  SEO as primary acquisition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8978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12,017 indexed pages. Each topic = unique long-tail keyword. Organic traffic grows compound while CAC stays near 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PRODUCT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 complete learning platform, not just a content library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54096" y="1828800"/>
            <a:ext cx="54864" cy="2103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9 Lesson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Focus, Dark, Cards, Split,</a:t>
            </a:r>
            <a:br/>
            <a:r>
              <a:t>Minimal, Bold, Paper,</a:t>
            </a:r>
            <a:br/>
            <a:r>
              <a:t>Terminal, Glass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34456" y="1828800"/>
            <a:ext cx="54864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30 Badge Milestones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From 🌱 Seedling (1 min)</a:t>
            </a:r>
            <a:br/>
            <a:r>
              <a:t>to 🏆 Grandmaster (2,000)</a:t>
            </a:r>
            <a:br/>
            <a:r>
              <a:t>Progressive achievement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14816" y="1828800"/>
            <a:ext cx="54864" cy="2103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965960"/>
            <a:ext cx="173736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Certificates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Shareable certificates</a:t>
            </a:r>
            <a:br/>
            <a:r>
              <a:t>after 60 topics per category</a:t>
            </a:r>
            <a:br/>
            <a:r>
              <a:t>SVG + PNG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695176" y="1828800"/>
            <a:ext cx="54864" cy="21031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1965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Star Ratings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77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1–5 star ratings on</a:t>
            </a:r>
            <a:br/>
            <a:r>
              <a:t>every topic with</a:t>
            </a:r>
            <a:br/>
            <a:r>
              <a:t>aggregated summaries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54096" y="4160520"/>
            <a:ext cx="54864" cy="2103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9B59B6"/>
                </a:solidFill>
                <a:latin typeface="Calibri"/>
              </a:defRPr>
            </a:pPr>
            <a:r>
              <a:t>Surprise Shuffle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Slot machine UX — spin</a:t>
            </a:r>
            <a:br/>
            <a:r>
              <a:t>3 reels to discover</a:t>
            </a:r>
            <a:br/>
            <a:r>
              <a:t>random lessons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34456" y="4160520"/>
            <a:ext cx="54864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2044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39C12"/>
                </a:solidFill>
                <a:latin typeface="Calibri"/>
              </a:defRPr>
            </a:pPr>
            <a:r>
              <a:t>Review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Re-read at your own</a:t>
            </a:r>
            <a:br/>
            <a:r>
              <a:t>pace without timer</a:t>
            </a:r>
            <a:br/>
            <a:r>
              <a:t>Pro-only feature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814816" y="4160520"/>
            <a:ext cx="54864" cy="2103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Daily Streaks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Consecutive day tracking</a:t>
            </a:r>
            <a:br/>
            <a:r>
              <a:t>with visual fire streak</a:t>
            </a:r>
            <a:br/>
            <a:r>
              <a:t>Retention mechanic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4160520"/>
            <a:ext cx="2651760" cy="21031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695176" y="4160520"/>
            <a:ext cx="54864" cy="21031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8116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2976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1ABC9C"/>
                </a:solidFill>
                <a:latin typeface="Calibri"/>
              </a:defRPr>
            </a:pPr>
            <a:r>
              <a:t>Public Reviews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7091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Review wall with</a:t>
            </a:r>
            <a:br/>
            <a:r>
              <a:t>star ratings + quotes</a:t>
            </a:r>
            <a:br/>
            <a:r>
              <a:t>Social proof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Where we stand — and why we 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69164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999999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920240"/>
            <a:ext cx="214884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23160" y="1965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1 Minute Academy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178308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Duolingo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178308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39C12"/>
                </a:solidFill>
                <a:latin typeface="Calibri"/>
              </a:defRPr>
            </a:pPr>
            <a:r>
              <a:t>Brilliant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2240280" cy="4114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9659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498DB"/>
                </a:solidFill>
                <a:latin typeface="Calibri"/>
              </a:defRPr>
            </a:pPr>
            <a:r>
              <a:t>Udemy / Coursera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23160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46888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Lesson Length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423160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23160" y="2468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60 seconds 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42316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246888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3–5 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42316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46888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10–15 minutes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423160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246888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30–60+ minutes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953511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299923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Content Breadth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2953511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23160" y="2999231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40 categories 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295351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299923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1 (language)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95351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299923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3 (STEM)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953511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2999231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Wide but unstructured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483864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352958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Story-Driven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77440" y="3483864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23160" y="3529584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6-beat narrative 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483864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17720" y="352958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Gamified drills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483864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352958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Interactive problems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3483864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75320" y="3529584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Video lectures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014216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4059936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Price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77440" y="4014216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23160" y="4059936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$7.99/mo ✅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0" y="4014216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17720" y="405993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$12.99/mo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014216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6520" y="405993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$24.99/mo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0" y="4014216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75320" y="4059936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$20–50/course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4544568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5800" y="459028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Completion Rate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77440" y="4544568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23160" y="45902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 (60s format) ✅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4544568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17720" y="45902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4544568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46520" y="45902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29600" y="4544568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275320" y="4590288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5–13%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5074920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5800" y="512064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Mobile-First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77440" y="5074920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23160" y="512064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Responsive PWA ✅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0" y="507492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617720" y="51206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Native apps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00800" y="5074920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46520" y="51206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Native apps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29600" y="5074920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275320" y="512064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Desktop-first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5605271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5800" y="5650991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377440" y="5605271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423160" y="5650991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Full (badges, certs,</a:t>
            </a:r>
            <a:br/>
            <a:r>
              <a:t>streaks, shuffle) ✅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72000" y="560527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617720" y="565099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00800" y="5605271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46520" y="5650991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0" y="5605271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275320" y="5650991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Minimal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6135623"/>
            <a:ext cx="169164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85800" y="6181343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Content Production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377440" y="6135623"/>
            <a:ext cx="2148840" cy="457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423160" y="6181343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AI-assisted pipeline</a:t>
            </a:r>
            <a:br>
              <a:rPr dirty="0"/>
            </a:br>
            <a:r>
              <a:rPr lang="en-US" dirty="0"/>
              <a:t>500</a:t>
            </a:r>
            <a:r>
              <a:rPr dirty="0"/>
              <a:t>+ courses/week ✅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0" y="6135623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617720" y="6181343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In-house teams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400800" y="6135623"/>
            <a:ext cx="17830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46520" y="6181343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Expert-built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229600" y="6135623"/>
            <a:ext cx="2240280" cy="4572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275320" y="6181343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User-generated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Three-phase growth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661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" cy="4754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Q3–Q4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SEO &amp; Organic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26080"/>
            <a:ext cx="310896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12,017 indexed pages = massive long-tail SEO surface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Each topic targets unique keyword (e.g., 'learn rhetoric in 60 seconds')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LLM-discoverable catalog (llms.txt) for AI search engines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OG images for all 12,010 topics → social sharing optimization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Target: 50K monthly organic visitors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661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54864" cy="4754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Q1–Q2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Viral Loops &amp; Partnerships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926080"/>
            <a:ext cx="310896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Shareable certificates drive word-of-mouth (LinkedIn, social)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Badge milestones create share-worthy moments (30 tiers)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Review wall creates social proof flywheel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Creator/educator partnerships for co-branded courses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Target: 200K MAU, 5% conversion = 10K Pro subscribers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566160" cy="47548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54864" cy="4754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t>H2 2026+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Platform &amp; B2B Expansion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926080"/>
            <a:ext cx="310896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31089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B2B: 'Team Academy' — corporate micro-learning packages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API access for LMS integrations (Canvas, Moodle)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Native mobile apps (iOS + Android)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User-generated content (curated) for infinite scale</a:t>
            </a:r>
          </a:p>
          <a:p>
            <a:pPr algn="l">
              <a:lnSpc>
                <a:spcPts val="1760"/>
              </a:lnSpc>
              <a:spcAft>
                <a:spcPts val="40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▸  Target: 1M MAU, $5M+ ARR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GROWTH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Conservative path to $5M ARR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828800"/>
          <a:ext cx="6400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6B6B"/>
                </a:solidFill>
                <a:latin typeface="Calibri"/>
              </a:defRPr>
            </a:pPr>
            <a:r>
              <a:t>Key Revenue Milestones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37744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89520" y="2377440"/>
            <a:ext cx="54864" cy="685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2423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Q4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800 Pro subs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$6.4K MRR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20040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3200400"/>
            <a:ext cx="54864" cy="685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246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5,000 Pro 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520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$40K MRR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02336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4023360"/>
            <a:ext cx="54864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2ECC71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12,000 Pro subs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$96K MRR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84632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89520" y="4846320"/>
            <a:ext cx="54864" cy="685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3498DB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25,000 Pro subs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5166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$200K MRR / $2.4M ARR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5669280"/>
            <a:ext cx="4114800" cy="685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89520" y="5669280"/>
            <a:ext cx="54864" cy="685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5715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9B59B6"/>
                </a:solidFill>
                <a:latin typeface="Calibri"/>
              </a:defRPr>
            </a:pPr>
            <a:r>
              <a:t>Q4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42,000 Pro subs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598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$336K MRR / $4M+ ARR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126480"/>
            <a:ext cx="109728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6172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  <a:r>
              <a:rPr dirty="0"/>
              <a:t>Assumptions: 5% </a:t>
            </a:r>
            <a:r>
              <a:rPr dirty="0" err="1"/>
              <a:t>free→Pro</a:t>
            </a:r>
            <a:r>
              <a:rPr dirty="0"/>
              <a:t> conversion  •  $6.50 blended ARPU  •  3% monthly churn  •  80% organic acquisition  •  Conservative: no B2B revenue included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TECHNOLOGY &amp;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Built to scale — engineered for speed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" cy="137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3498D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19 + Vite + Framer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Blazing-fast SPA with cinematic lesson animations.</a:t>
            </a:r>
            <a:br/>
            <a:r>
              <a:t>Responsive across all devices. PWA-ready.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4864" cy="13716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2ECC7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Supabase (PostgreSQL + Auth + Storage)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29 migrations. Row-level security. Real-time.</a:t>
            </a:r>
            <a:br/>
            <a:r>
              <a:t>Auth, progress, ratings, certificates — all managed.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54864" cy="13716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9B59B6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49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Stripe Subscriptions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Full subscription lifecycle: checkout, portal,</a:t>
            </a:r>
            <a:br/>
            <a:r>
              <a:t>webhooks, customer management. PCI compliant.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383280"/>
            <a:ext cx="54864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3474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39C12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49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Vercel + Netlify (dual deploy)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Edge-optimized CDN. Serverless functions.</a:t>
            </a:r>
            <a:br/>
            <a:r>
              <a:t>Analytics built-in. 99.99% uptime.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3776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937760"/>
            <a:ext cx="54864" cy="1371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6B6B"/>
                </a:solidFill>
                <a:latin typeface="Calibri"/>
              </a:defRPr>
            </a:pPr>
            <a:r>
              <a:t>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AI-Assisted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JSON schema-validated content. Programmatic</a:t>
            </a:r>
            <a:br/>
            <a:r>
              <a:t>generation of 100+ courses/week. Zero manual labor.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937760"/>
            <a:ext cx="5486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54864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FFD700"/>
                </a:solidFill>
                <a:latin typeface="Calibri"/>
              </a:defRPr>
            </a:pPr>
            <a:r>
              <a:t>SEO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03520"/>
            <a:ext cx="512064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</a:t>
            </a:r>
            <a:r>
              <a:rPr lang="en-US" dirty="0"/>
              <a:t>5,000</a:t>
            </a:r>
            <a:r>
              <a:rPr dirty="0"/>
              <a:t> Indexed Pages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6692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Auto-generated sitemap, OG images, JSON-LD,</a:t>
            </a:r>
            <a:br/>
            <a:r>
              <a:t>llms.txt. Each topic = unique search entry point.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537960"/>
            <a:ext cx="11094415" cy="228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6537960"/>
            <a:ext cx="1051560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rPr dirty="0"/>
              <a:t>🔒  MOAT: </a:t>
            </a:r>
            <a:r>
              <a:rPr lang="en-US" dirty="0"/>
              <a:t>15,000</a:t>
            </a:r>
            <a:r>
              <a:rPr dirty="0"/>
              <a:t> story-driven lessons + AI pipeline + schema-validated content system = years of head start over any new entrant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WHAT'S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Shipped product, not a slide deck — this is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3236976"/>
            <a:ext cx="35661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56616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6B6B"/>
                </a:solidFill>
                <a:latin typeface="Calibri"/>
              </a:defRPr>
            </a:pPr>
            <a:r>
              <a:rPr dirty="0"/>
              <a:t>1</a:t>
            </a:r>
            <a:r>
              <a:rPr lang="en-US" dirty="0"/>
              <a:t>5,000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Lessons</a:t>
            </a:r>
            <a:br/>
            <a:r>
              <a:t>Live &amp; Playable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3236976"/>
            <a:ext cx="356616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356616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FD700"/>
                </a:solidFill>
                <a:latin typeface="Calibri"/>
              </a:defRPr>
            </a:pPr>
            <a:r>
              <a:rPr lang="en-US" dirty="0"/>
              <a:t>5</a:t>
            </a:r>
            <a:r>
              <a:rPr dirty="0"/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06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Structured</a:t>
            </a:r>
            <a:br/>
            <a:r>
              <a:t>Courses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3236976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920240"/>
            <a:ext cx="356616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2ECC71"/>
                </a:solidFill>
                <a:latin typeface="Calibri"/>
              </a:defRPr>
            </a:pPr>
            <a:r>
              <a:rPr dirty="0"/>
              <a:t>1</a:t>
            </a:r>
            <a:r>
              <a:rPr lang="en-US" dirty="0"/>
              <a:t>5,000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138160" y="26060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SEO Pages</a:t>
            </a:r>
            <a:br/>
            <a:r>
              <a:t>Indexed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882896"/>
            <a:ext cx="356616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356616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3498DB"/>
                </a:solidFill>
                <a:latin typeface="Calibri"/>
              </a:defRPr>
            </a:pPr>
            <a:r>
              <a:rPr dirty="0"/>
              <a:t>1</a:t>
            </a:r>
            <a:r>
              <a:rPr lang="en-US" dirty="0"/>
              <a:t>5,000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OG Images</a:t>
            </a:r>
            <a:br/>
            <a:r>
              <a:t>Generated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47472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4882896"/>
            <a:ext cx="356616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35661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9B59B6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251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Database</a:t>
            </a:r>
            <a:br/>
            <a:r>
              <a:t>Migrations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474720"/>
            <a:ext cx="3566160" cy="1463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4882896"/>
            <a:ext cx="356616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3566160"/>
            <a:ext cx="356616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Aft>
                <a:spcPts val="0"/>
              </a:spcAft>
              <a:defRPr sz="4200" b="1">
                <a:solidFill>
                  <a:srgbClr val="F39C12"/>
                </a:solidFill>
                <a:latin typeface="Calibri"/>
              </a:defRPr>
            </a:pPr>
            <a:r>
              <a:rPr lang="en-US" dirty="0"/>
              <a:t>5</a:t>
            </a:r>
            <a:r>
              <a:rPr dirty="0"/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2519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Content</a:t>
            </a:r>
            <a:br/>
            <a:r>
              <a:t>Categories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03520"/>
            <a:ext cx="11094415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Shipped 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Full lesson engine (6-beat stories + quiz)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Stripe billing (monthly + annual)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Auth (email, magic link, OAuth)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5715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9 lesson presentation styles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30-tier badge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Shareable certificates (40 categories)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Star ratings + review wall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989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Daily streak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Category/course/chapter browser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Surprise Shuffle discovery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Profile system (7 tabs)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6263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2ECC71"/>
                </a:solidFill>
                <a:latin typeface="Calibri"/>
              </a:defRPr>
            </a:pPr>
            <a:r>
              <a:t>✅ Full SEO infrastructure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From 1</a:t>
            </a:r>
            <a:r>
              <a:rPr lang="en-US" dirty="0"/>
              <a:t>5</a:t>
            </a:r>
            <a:r>
              <a:rPr dirty="0"/>
              <a:t>K lessons to the world's knowledge in 60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19456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2ECC71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Product-Market 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1828800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1920240" cy="176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1</a:t>
            </a:r>
            <a:r>
              <a:rPr lang="en-US" dirty="0"/>
              <a:t>5,000</a:t>
            </a:r>
            <a:r>
              <a:rPr dirty="0"/>
              <a:t> lessons across </a:t>
            </a:r>
            <a:r>
              <a:rPr lang="en-US" dirty="0"/>
              <a:t>5</a:t>
            </a:r>
            <a:r>
              <a:rPr dirty="0"/>
              <a:t>0 categories — LIVE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Full payment infrastructure — LIVE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SEO + content pipeline operational — LIVE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Gamification + retention loops —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06624" y="1828800"/>
            <a:ext cx="219456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06624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rPr lang="en-US" dirty="0"/>
              <a:t>Q</a:t>
            </a:r>
            <a:r>
              <a:rPr dirty="0"/>
              <a:t>2 202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2798064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Growth Phase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9504" y="2971800"/>
            <a:ext cx="182880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43784" y="3108960"/>
            <a:ext cx="1920240" cy="1575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Scale to </a:t>
            </a:r>
            <a:r>
              <a:rPr lang="en-US" dirty="0"/>
              <a:t>100,000</a:t>
            </a:r>
            <a:r>
              <a:rPr dirty="0"/>
              <a:t>+ lessons (</a:t>
            </a:r>
            <a:r>
              <a:rPr lang="en-US" dirty="0"/>
              <a:t>350</a:t>
            </a:r>
            <a:r>
              <a:rPr dirty="0"/>
              <a:t> categories)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Launch targeted ad campaigns (Google, Meta)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Creator partnership program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A/B test pricing &amp; onboarding funnels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47488" y="1828800"/>
            <a:ext cx="219456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47488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rPr lang="en-US" dirty="0"/>
              <a:t>Q1</a:t>
            </a:r>
            <a:r>
              <a:rPr dirty="0"/>
              <a:t> 202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5138928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Platform Expansion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2971800"/>
            <a:ext cx="182880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84648" y="31089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Native iOS + Android apps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Audio mode (learn while commuting)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Spaced repetition engine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Multi-language support (10 languages)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88352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88352" y="1828800"/>
            <a:ext cx="2194560" cy="45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88352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3498DB"/>
                </a:solidFill>
                <a:latin typeface="Calibri"/>
              </a:defRPr>
            </a:pPr>
            <a:r>
              <a:rPr lang="en-US" dirty="0"/>
              <a:t>Q2</a:t>
            </a:r>
            <a:r>
              <a:rPr dirty="0"/>
              <a:t> 202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7479792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B2B &amp; Enterprise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971800"/>
            <a:ext cx="18288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25512" y="31089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'Team Academy' for corporate training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API &amp; LMS integrations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Custom branded courses for companies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t>▸ White-label offering for education providers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9216" y="1828800"/>
            <a:ext cx="21945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29216" y="1828800"/>
            <a:ext cx="219456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29216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9B59B6"/>
                </a:solidFill>
                <a:latin typeface="Calibri"/>
              </a:defRPr>
            </a:pPr>
            <a:r>
              <a:t>2027+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Platform Play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12096" y="2971800"/>
            <a:ext cx="1828800" cy="1828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66376" y="3108960"/>
            <a:ext cx="1920240" cy="1575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</a:t>
            </a:r>
            <a:r>
              <a:rPr lang="en-US" dirty="0"/>
              <a:t>1M</a:t>
            </a:r>
            <a:r>
              <a:rPr dirty="0"/>
              <a:t>+ lessons across </a:t>
            </a:r>
            <a:r>
              <a:rPr lang="en-US" dirty="0"/>
              <a:t>4000</a:t>
            </a:r>
            <a:r>
              <a:rPr dirty="0"/>
              <a:t> categories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User-generated content (curated quality)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AI-personalized learning paths</a:t>
            </a:r>
          </a:p>
          <a:p>
            <a:pPr algn="l">
              <a:lnSpc>
                <a:spcPts val="1530"/>
              </a:lnSpc>
              <a:spcAft>
                <a:spcPts val="400"/>
              </a:spcAft>
              <a:defRPr sz="900" b="0">
                <a:solidFill>
                  <a:srgbClr val="CCCCCC"/>
                </a:solidFill>
                <a:latin typeface="Calibri"/>
              </a:defRPr>
            </a:pPr>
            <a:r>
              <a:rPr dirty="0"/>
              <a:t>▸ Marketplace for expert micro-courses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Raising $500K seed to scale content &amp; acquire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80"/>
              </a:lnSpc>
              <a:spcAft>
                <a:spcPts val="0"/>
              </a:spcAft>
              <a:defRPr sz="6400" b="1">
                <a:solidFill>
                  <a:srgbClr val="FF6B6B"/>
                </a:solidFill>
                <a:latin typeface="Calibri"/>
              </a:defRPr>
            </a:pPr>
            <a:r>
              <a:t>$500,000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Seed Round — Pre-Revenue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274320" y="310896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82880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4864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6B6B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74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Content Scale-Up — $175K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48840"/>
            <a:ext cx="4389120" cy="799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rPr dirty="0"/>
              <a:t>Scale from 12K to </a:t>
            </a:r>
            <a:r>
              <a:rPr lang="en-US" dirty="0"/>
              <a:t>100K</a:t>
            </a:r>
            <a:r>
              <a:rPr dirty="0"/>
              <a:t>+ lessons</a:t>
            </a:r>
            <a:br>
              <a:rPr dirty="0"/>
            </a:br>
            <a:r>
              <a:rPr dirty="0"/>
              <a:t>Expand to </a:t>
            </a:r>
            <a:r>
              <a:rPr lang="en-US" dirty="0"/>
              <a:t>350</a:t>
            </a:r>
            <a:r>
              <a:rPr dirty="0"/>
              <a:t> categories</a:t>
            </a:r>
            <a:br>
              <a:rPr dirty="0"/>
            </a:br>
            <a:r>
              <a:rPr dirty="0"/>
              <a:t>AI pipeline optimization</a:t>
            </a:r>
            <a:br>
              <a:rPr dirty="0"/>
            </a:br>
            <a:r>
              <a:rPr dirty="0"/>
              <a:t>Quality assurance &amp; editing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063240"/>
            <a:ext cx="54864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Marketing &amp; Growth — $150K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3832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SEO acceleration &amp; link building</a:t>
            </a:r>
            <a:br/>
            <a:r>
              <a:t>Paid acquisition (Google, Meta, TikTok)</a:t>
            </a:r>
            <a:br/>
            <a:r>
              <a:t>Influencer &amp; creator partnerships</a:t>
            </a:r>
            <a:br/>
            <a:r>
              <a:t>Content marketing &amp; social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9768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54864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343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3498DB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343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Engineering — $125K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6177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Native mobile apps (iOS + Android)</a:t>
            </a:r>
            <a:br/>
            <a:r>
              <a:t>Spaced repetition engine</a:t>
            </a:r>
            <a:br/>
            <a:r>
              <a:t>Audio mode &amp; accessibility</a:t>
            </a:r>
            <a:br/>
            <a:r>
              <a:t>Performance &amp; infrastructure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532120"/>
            <a:ext cx="54864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5532120"/>
            <a:ext cx="54864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55778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2ECC71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5577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Operations — $50K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852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Aft>
                <a:spcPts val="0"/>
              </a:spcAft>
              <a:defRPr sz="1000" b="0">
                <a:solidFill>
                  <a:srgbClr val="CCCCCC"/>
                </a:solidFill>
                <a:latin typeface="Calibri"/>
              </a:defRPr>
            </a:pPr>
            <a:r>
              <a:t>Legal &amp; compliance</a:t>
            </a:r>
            <a:br/>
            <a:r>
              <a:t>Customer support tooling</a:t>
            </a:r>
            <a:br/>
            <a:r>
              <a:t>Analytics &amp; data infrastructure</a:t>
            </a:r>
            <a:br/>
            <a:r>
              <a:t>Reserve buffer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852160"/>
            <a:ext cx="5486400" cy="7772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5897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🎯  18-Month Milestones with This Round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172200"/>
            <a:ext cx="5120640" cy="259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lang="en-US" dirty="0"/>
              <a:t>100,000</a:t>
            </a:r>
            <a:r>
              <a:rPr dirty="0"/>
              <a:t>+ lessons  •  10K Pro subscribers  •  $80K+ MRR  •  Series A 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Five forces converging to create a once-in-a-decade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Attention Economy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TikTok proved that 60-second content wins. Audiences are now conditioned for short-form. Education hasn't caught up yet — we bridge that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54864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t>AI Content Revolution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46120"/>
            <a:ext cx="10058400" cy="44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Generative AI has collapsed content creation costs by 90%. Our AI-assisted pipeline produces </a:t>
            </a:r>
            <a:r>
              <a:rPr lang="en-US" dirty="0"/>
              <a:t>1000</a:t>
            </a:r>
            <a:r>
              <a:rPr dirty="0"/>
              <a:t>+ courses/week at near-zero marginal cost. This wasn't possible 2 years ago.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54864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31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EdTech Market Inflection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062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Post-COVID, online learning is the default ($350B+ by 2030). But completion rates are dismal. The market is begging for a format that actually works.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54864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SEO + LLM 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t>AI search (ChatGPT, Perplexity, Gemini) is reshaping discovery. Our llms.txt + structured data makes us uniquely discoverable. Early mover advantage in LLM-era SEO.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760720"/>
            <a:ext cx="11094415" cy="8229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54864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9B59B6"/>
                </a:solidFill>
                <a:latin typeface="Calibri"/>
              </a:defRPr>
            </a:pPr>
            <a:r>
              <a:t>Subscription Fatigue →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6126480"/>
            <a:ext cx="10058400" cy="44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CCCCC"/>
                </a:solidFill>
                <a:latin typeface="Calibri"/>
              </a:defRPr>
            </a:pPr>
            <a:r>
              <a:rPr dirty="0"/>
              <a:t>Consumers are cutting subscriptions that don't deliver value. At $7.99/</a:t>
            </a:r>
            <a:r>
              <a:rPr dirty="0" err="1"/>
              <a:t>mo</a:t>
            </a:r>
            <a:r>
              <a:rPr dirty="0"/>
              <a:t> for </a:t>
            </a:r>
            <a:r>
              <a:rPr lang="en-US" dirty="0"/>
              <a:t>100,000+</a:t>
            </a:r>
            <a:r>
              <a:rPr dirty="0"/>
              <a:t> lessons (</a:t>
            </a:r>
            <a:r>
              <a:rPr lang="en-US" dirty="0"/>
              <a:t>0,00008 cent / lesson</a:t>
            </a:r>
            <a:r>
              <a:rPr dirty="0"/>
              <a:t>), we're the highest-value education subscription on the market.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73152" cy="5029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6B6B"/>
                </a:solidFill>
                <a:latin typeface="Calibri"/>
              </a:defRPr>
            </a:pPr>
            <a:r>
              <a:t>⏱️  1 MINUTE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The world learns in 60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108960"/>
            <a:ext cx="2133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3383280"/>
            <a:ext cx="7315200" cy="30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📚  1</a:t>
            </a:r>
            <a:r>
              <a:rPr lang="en-US" dirty="0"/>
              <a:t>5</a:t>
            </a:r>
            <a:r>
              <a:rPr dirty="0"/>
              <a:t>,0</a:t>
            </a:r>
            <a:r>
              <a:rPr lang="en-US" dirty="0"/>
              <a:t>0</a:t>
            </a:r>
            <a:r>
              <a:rPr dirty="0"/>
              <a:t>0 lessons LIVE today across </a:t>
            </a:r>
            <a:r>
              <a:rPr lang="en-US" dirty="0"/>
              <a:t>5</a:t>
            </a:r>
            <a:r>
              <a:rPr dirty="0"/>
              <a:t>0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307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🧠  Proven narrative engine (6-beat stories + quiz = 60s of high-density learning)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07822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💰  $7.99/mo Pro tier with 92% gross margins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425696"/>
            <a:ext cx="7315200" cy="30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🚀  AI-powered content pipeline producing 100</a:t>
            </a:r>
            <a:r>
              <a:rPr lang="en-US" dirty="0"/>
              <a:t>0</a:t>
            </a:r>
            <a:r>
              <a:rPr dirty="0"/>
              <a:t>+ courses/week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773168"/>
            <a:ext cx="7315200" cy="30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🌐  1</a:t>
            </a:r>
            <a:r>
              <a:rPr lang="en-US" dirty="0"/>
              <a:t>5,000</a:t>
            </a:r>
            <a:r>
              <a:rPr dirty="0"/>
              <a:t> SEO pages driving compound organic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🎯  Raising $500K seed to reach 10K subscribers &amp; $80K+ MRR in 18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5623560"/>
            <a:ext cx="2133295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6263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999999"/>
                </a:solidFill>
                <a:latin typeface="Calibri"/>
              </a:defRPr>
            </a:pPr>
            <a:r>
              <a:rPr dirty="0"/>
              <a:t>1minuteacademy.com  •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2696</Words>
  <Application>Microsoft Macintosh PowerPoint</Application>
  <PresentationFormat>Widescreen</PresentationFormat>
  <Paragraphs>505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Zeinab Ara</cp:lastModifiedBy>
  <cp:revision>2</cp:revision>
  <dcterms:created xsi:type="dcterms:W3CDTF">2013-01-27T09:14:16Z</dcterms:created>
  <dcterms:modified xsi:type="dcterms:W3CDTF">2026-02-26T19:09:41Z</dcterms:modified>
  <cp:category/>
</cp:coreProperties>
</file>